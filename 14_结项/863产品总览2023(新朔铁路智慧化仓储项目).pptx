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2"/>
    <p:sldMasterId id="2147483672" r:id="rId3"/>
  </p:sldMasterIdLst>
  <p:notesMasterIdLst>
    <p:notesMasterId r:id="rId10"/>
  </p:notesMasterIdLst>
  <p:handoutMasterIdLst>
    <p:handoutMasterId r:id="rId11"/>
  </p:handoutMasterIdLst>
  <p:sldIdLst>
    <p:sldId id="1074" r:id="rId4"/>
    <p:sldId id="1075" r:id="rId5"/>
    <p:sldId id="1085" r:id="rId6"/>
    <p:sldId id="1076" r:id="rId7"/>
    <p:sldId id="1078" r:id="rId8"/>
    <p:sldId id="1077" r:id="rId9"/>
  </p:sldIdLst>
  <p:sldSz cx="12192000" cy="6858000"/>
  <p:notesSz cx="6858000" cy="9144000"/>
  <p:embeddedFontLst>
    <p:embeddedFont>
      <p:font typeface="Segoe UI" panose="020B0502040204020203" pitchFamily="34" charset="0"/>
      <p:regular r:id="rId12"/>
      <p:bold r:id="rId13"/>
      <p:italic r:id="rId14"/>
      <p:boldItalic r:id="rId15"/>
    </p:embeddedFont>
    <p:embeddedFont>
      <p:font typeface="Segoe UI Light" panose="020B0502040204020203" pitchFamily="34" charset="0"/>
      <p:regular r:id="rId16"/>
      <p:italic r:id="rId17"/>
    </p:embeddedFont>
    <p:embeddedFont>
      <p:font typeface="微软雅黑" panose="020B0503020204020204" pitchFamily="34" charset="-122"/>
      <p:regular r:id="rId18"/>
      <p:bold r:id="rId19"/>
    </p:embeddedFont>
  </p:embeddedFontLst>
  <p:defaultTextStyle>
    <a:defPPr>
      <a:defRPr lang="zh-TW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Segoe UI" panose="020B0502040204020203" pitchFamily="34" charset="0"/>
        <a:ea typeface="微软雅黑" panose="020B0503020204020204" pitchFamily="34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Segoe UI" panose="020B0502040204020203" pitchFamily="34" charset="0"/>
        <a:ea typeface="微软雅黑" panose="020B0503020204020204" pitchFamily="34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Segoe UI" panose="020B0502040204020203" pitchFamily="34" charset="0"/>
        <a:ea typeface="微软雅黑" panose="020B0503020204020204" pitchFamily="34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Segoe UI" panose="020B0502040204020203" pitchFamily="34" charset="0"/>
        <a:ea typeface="微软雅黑" panose="020B0503020204020204" pitchFamily="34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Segoe UI" panose="020B0502040204020203" pitchFamily="34" charset="0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Segoe UI" panose="020B0502040204020203" pitchFamily="34" charset="0"/>
        <a:ea typeface="微软雅黑" panose="020B0503020204020204" pitchFamily="34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Segoe UI" panose="020B0502040204020203" pitchFamily="34" charset="0"/>
        <a:ea typeface="微软雅黑" panose="020B0503020204020204" pitchFamily="34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Segoe UI" panose="020B0502040204020203" pitchFamily="34" charset="0"/>
        <a:ea typeface="微软雅黑" panose="020B0503020204020204" pitchFamily="34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Segoe UI" panose="020B0502040204020203" pitchFamily="34" charset="0"/>
        <a:ea typeface="微软雅黑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400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6373"/>
    <a:srgbClr val="000099"/>
    <a:srgbClr val="455F78"/>
    <a:srgbClr val="637889"/>
    <a:srgbClr val="EF5D0D"/>
    <a:srgbClr val="D74B4B"/>
    <a:srgbClr val="003466"/>
    <a:srgbClr val="FD64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26" autoAdjust="0"/>
    <p:restoredTop sz="94660" autoAdjust="0"/>
  </p:normalViewPr>
  <p:slideViewPr>
    <p:cSldViewPr snapToGrid="0">
      <p:cViewPr varScale="1">
        <p:scale>
          <a:sx n="109" d="100"/>
          <a:sy n="109" d="100"/>
        </p:scale>
        <p:origin x="92" y="104"/>
      </p:cViewPr>
      <p:guideLst>
        <p:guide orient="horz" pos="2159"/>
        <p:guide pos="400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8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noProof="1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noProof="1" smtClean="0">
                <a:cs typeface="+mn-ea"/>
              </a:defRPr>
            </a:lvl1pPr>
          </a:lstStyle>
          <a:p>
            <a:fld id="{0F9B84EA-7D68-4D60-9CB1-D50884785D1C}" type="datetimeFigureOut">
              <a:rPr lang="zh-CN" altLang="en-US"/>
              <a:t>2024/2/21</a:t>
            </a:fld>
            <a:endParaRPr lang="zh-CN" altLang="en-US"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noProof="1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noProof="1" smtClean="0">
                <a:cs typeface="+mn-ea"/>
              </a:defRPr>
            </a:lvl1pPr>
          </a:lstStyle>
          <a:p>
            <a:fld id="{0C4B38F4-C156-4754-886B-7CBD2980A23E}" type="slidenum">
              <a:rPr lang="zh-CN" altLang="en-US"/>
              <a:t>‹#›</a:t>
            </a:fld>
            <a:endParaRPr lang="zh-CN" altLang="en-US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noProof="1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noProof="1" smtClean="0">
                <a:cs typeface="+mn-ea"/>
              </a:defRPr>
            </a:lvl1pPr>
          </a:lstStyle>
          <a:p>
            <a:fld id="{D2A48B96-639E-45A3-A0BA-2464DFDB1FAA}" type="datetimeFigureOut">
              <a:rPr lang="zh-CN" altLang="en-US"/>
              <a:t>2024/2/21</a:t>
            </a:fld>
            <a:endParaRPr lang="zh-CN" altLang="en-US">
              <a:cs typeface="+mn-cs"/>
            </a:endParaRPr>
          </a:p>
        </p:txBody>
      </p:sp>
      <p:sp>
        <p:nvSpPr>
          <p:cNvPr id="8196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7" name="备注占位符 4"/>
          <p:cNvSpPr>
            <a:spLocks noGrp="1" noChangeArrowheads="1"/>
          </p:cNvSpPr>
          <p:nvPr>
            <p:ph type="body" sz="quarter" idx="9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noProof="1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noProof="1" smtClean="0">
                <a:cs typeface="+mn-ea"/>
              </a:defRPr>
            </a:lvl1pPr>
          </a:lstStyle>
          <a:p>
            <a:fld id="{0C13EB5B-9FBB-4060-BAE9-92F486B64505}" type="slidenum">
              <a:rPr lang="zh-CN" altLang="en-US"/>
              <a:t>‹#›</a:t>
            </a:fld>
            <a:endParaRPr lang="zh-CN" altLang="en-US"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PMingLiU" panose="02020500000000000000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PMingLiU" panose="02020500000000000000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PMingLiU" panose="02020500000000000000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PMingLiU" panose="02020500000000000000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PMingLiU" panose="02020500000000000000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6DB3F8-2625-457F-8DB8-A024C47577A4}" type="slidenum">
              <a:rPr lang="zh-TW" altLang="en-US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7EE785-58CF-45B9-B01F-14CA370500D4}" type="slidenum">
              <a:rPr lang="zh-TW" altLang="en-US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ED3AD6-B021-4599-8B73-846A2B637764}" type="slidenum">
              <a:rPr lang="zh-TW" altLang="en-US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619250"/>
            <a:ext cx="5181600" cy="455771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19250"/>
            <a:ext cx="5181600" cy="455771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96795E-1546-49E1-8DB1-1BB752F4DC51}" type="slidenum">
              <a:rPr lang="zh-TW" altLang="en-US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93E96F-DB83-49B9-B034-C42EF6BF6F9E}" type="slidenum">
              <a:rPr lang="zh-TW" altLang="en-US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842BD7-DC10-4265-BEFD-36F8C583DDAF}" type="slidenum">
              <a:rPr lang="zh-TW" altLang="en-US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74EBE6-E9BA-43EC-AD2F-DA0420E9BAB1}" type="slidenum">
              <a:rPr lang="zh-TW" altLang="en-US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DF3B7B-53C8-4EFA-9456-29BC6D7C0491}" type="slidenum">
              <a:rPr lang="zh-TW" altLang="en-US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8E4443-5A61-4D00-923D-CBC61515E7A4}" type="slidenum">
              <a:rPr lang="zh-TW" altLang="en-US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2F716C-E635-491A-8200-64D8DFEF1CB8}" type="slidenum">
              <a:rPr lang="zh-TW" altLang="en-US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DFB377-2CAB-492B-9D16-EF4DC38C9105}" type="slidenum">
              <a:rPr lang="zh-TW" altLang="en-US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619250"/>
            <a:ext cx="5181600" cy="455771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19250"/>
            <a:ext cx="5181600" cy="455771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619250"/>
            <a:ext cx="5181600" cy="455771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19250"/>
            <a:ext cx="5181600" cy="455771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838200" y="365125"/>
            <a:ext cx="10515600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zh-CN"/>
              <a:t>单击此处编辑母版标题样式</a:t>
            </a:r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</p:nvPr>
        </p:nvSpPr>
        <p:spPr bwMode="auto">
          <a:xfrm>
            <a:off x="838200" y="1619250"/>
            <a:ext cx="10515600" cy="4557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TW" altLang="zh-CN"/>
              <a:t>单击此处编辑母版文本样式</a:t>
            </a:r>
          </a:p>
          <a:p>
            <a:pPr lvl="1"/>
            <a:r>
              <a:rPr lang="zh-TW" altLang="zh-CN"/>
              <a:t>第二级</a:t>
            </a:r>
          </a:p>
          <a:p>
            <a:pPr lvl="2"/>
            <a:r>
              <a:rPr lang="zh-TW" altLang="zh-CN"/>
              <a:t>第三级</a:t>
            </a:r>
          </a:p>
          <a:p>
            <a:pPr lvl="3"/>
            <a:r>
              <a:rPr lang="zh-TW" altLang="zh-CN"/>
              <a:t>第四级</a:t>
            </a:r>
          </a:p>
          <a:p>
            <a:pPr lvl="4"/>
            <a:r>
              <a:rPr lang="zh-TW" altLang="zh-CN"/>
              <a:t>第五级</a:t>
            </a:r>
          </a:p>
        </p:txBody>
      </p:sp>
      <p:sp>
        <p:nvSpPr>
          <p:cNvPr id="1028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1029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1030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45D16E7B-BB81-4C85-8C0E-01BF5DB2E424}" type="slidenum">
              <a:rPr lang="zh-TW" altLang="en-US"/>
              <a:t>‹#›</a:t>
            </a:fld>
            <a:endParaRPr lang="zh-TW" altLang="en-US"/>
          </a:p>
        </p:txBody>
      </p:sp>
      <p:sp>
        <p:nvSpPr>
          <p:cNvPr id="1031" name="椭圆 1"/>
          <p:cNvSpPr>
            <a:spLocks noChangeArrowheads="1"/>
          </p:cNvSpPr>
          <p:nvPr userDrawn="1"/>
        </p:nvSpPr>
        <p:spPr bwMode="auto">
          <a:xfrm>
            <a:off x="7977188" y="3565525"/>
            <a:ext cx="1527175" cy="15128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3pPr>
            <a:lvl4pPr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4pPr>
            <a:lvl5pPr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9pPr>
          </a:lstStyle>
          <a:p>
            <a:pPr eaLnBrk="0" hangingPunct="0"/>
            <a:endParaRPr lang="zh-TW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Segoe UI Light" panose="020B0502040204020203" pitchFamily="34" charset="0"/>
          <a:ea typeface="微软雅黑 Light" panose="020B0502040204020203" pitchFamily="34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Segoe UI Light" panose="020B0502040204020203" pitchFamily="34" charset="0"/>
          <a:ea typeface="微软雅黑 Light" panose="020B0502040204020203" pitchFamily="34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Segoe UI Light" panose="020B0502040204020203" pitchFamily="34" charset="0"/>
          <a:ea typeface="微软雅黑 Light" panose="020B0502040204020203" pitchFamily="34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Segoe UI Light" panose="020B0502040204020203" pitchFamily="34" charset="0"/>
          <a:ea typeface="微软雅黑 Light" panose="020B0502040204020203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Segoe UI Light" panose="020B0502040204020203" pitchFamily="34" charset="0"/>
          <a:ea typeface="微软雅黑 Light" panose="020B0502040204020203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Segoe UI Light" panose="020B0502040204020203" pitchFamily="34" charset="0"/>
          <a:ea typeface="微软雅黑 Light" panose="020B0502040204020203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Segoe UI Light" panose="020B0502040204020203" pitchFamily="34" charset="0"/>
          <a:ea typeface="微软雅黑 Light" panose="020B0502040204020203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Segoe UI Light" panose="020B0502040204020203" pitchFamily="34" charset="0"/>
          <a:ea typeface="微软雅黑 Light" panose="020B0502040204020203" pitchFamily="34" charset="-122"/>
        </a:defRPr>
      </a:lvl9pPr>
    </p:titleStyle>
    <p:bodyStyle>
      <a:lvl1pPr marL="228600" indent="-228600" algn="l" rtl="0" fontAlgn="base">
        <a:lnSpc>
          <a:spcPct val="125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125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125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125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125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标题占位符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838200" y="365125"/>
            <a:ext cx="10515600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zh-CN"/>
              <a:t>单击此处编辑母版标题样式</a:t>
            </a:r>
          </a:p>
        </p:txBody>
      </p:sp>
      <p:sp>
        <p:nvSpPr>
          <p:cNvPr id="3075" name="文本占位符 2"/>
          <p:cNvSpPr>
            <a:spLocks noGrp="1" noChangeArrowheads="1"/>
          </p:cNvSpPr>
          <p:nvPr>
            <p:ph type="body" idx="9"/>
          </p:nvPr>
        </p:nvSpPr>
        <p:spPr bwMode="auto">
          <a:xfrm>
            <a:off x="838200" y="1619250"/>
            <a:ext cx="10515600" cy="4557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TW" altLang="zh-CN"/>
              <a:t>单击此处编辑母版文本样式</a:t>
            </a:r>
          </a:p>
          <a:p>
            <a:pPr lvl="1"/>
            <a:r>
              <a:rPr lang="zh-TW" altLang="zh-CN"/>
              <a:t>第二级</a:t>
            </a:r>
          </a:p>
          <a:p>
            <a:pPr lvl="2"/>
            <a:r>
              <a:rPr lang="zh-TW" altLang="zh-CN"/>
              <a:t>第三级</a:t>
            </a:r>
          </a:p>
          <a:p>
            <a:pPr lvl="3"/>
            <a:r>
              <a:rPr lang="zh-TW" altLang="zh-CN"/>
              <a:t>第四级</a:t>
            </a:r>
          </a:p>
          <a:p>
            <a:pPr lvl="4"/>
            <a:r>
              <a:rPr lang="zh-TW" altLang="zh-CN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Segoe UI Light" panose="020B0502040204020203" pitchFamily="34" charset="0"/>
          <a:ea typeface="微软雅黑 Light" panose="020B0502040204020203" pitchFamily="34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Segoe UI Light" panose="020B0502040204020203" pitchFamily="34" charset="0"/>
          <a:ea typeface="微软雅黑 Light" panose="020B0502040204020203" pitchFamily="34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Segoe UI Light" panose="020B0502040204020203" pitchFamily="34" charset="0"/>
          <a:ea typeface="微软雅黑 Light" panose="020B0502040204020203" pitchFamily="34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Segoe UI Light" panose="020B0502040204020203" pitchFamily="34" charset="0"/>
          <a:ea typeface="微软雅黑 Light" panose="020B0502040204020203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Segoe UI Light" panose="020B0502040204020203" pitchFamily="34" charset="0"/>
          <a:ea typeface="微软雅黑 Light" panose="020B0502040204020203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Segoe UI Light" panose="020B0502040204020203" pitchFamily="34" charset="0"/>
          <a:ea typeface="微软雅黑 Light" panose="020B0502040204020203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Segoe UI Light" panose="020B0502040204020203" pitchFamily="34" charset="0"/>
          <a:ea typeface="微软雅黑 Light" panose="020B0502040204020203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Segoe UI Light" panose="020B0502040204020203" pitchFamily="34" charset="0"/>
          <a:ea typeface="微软雅黑 Light" panose="020B0502040204020203" pitchFamily="34" charset="-122"/>
        </a:defRPr>
      </a:lvl9pPr>
    </p:titleStyle>
    <p:bodyStyle>
      <a:lvl1pPr marL="228600" indent="-228600" algn="l" rtl="0" fontAlgn="base">
        <a:lnSpc>
          <a:spcPct val="125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125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125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125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125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占位符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838200" y="365125"/>
            <a:ext cx="10515600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zh-CN"/>
              <a:t>单击此处编辑母版标题样式</a:t>
            </a:r>
          </a:p>
        </p:txBody>
      </p:sp>
      <p:sp>
        <p:nvSpPr>
          <p:cNvPr id="5123" name="文本占位符 2"/>
          <p:cNvSpPr>
            <a:spLocks noGrp="1" noChangeArrowheads="1"/>
          </p:cNvSpPr>
          <p:nvPr>
            <p:ph type="body" idx="9"/>
          </p:nvPr>
        </p:nvSpPr>
        <p:spPr bwMode="auto">
          <a:xfrm>
            <a:off x="838200" y="1619250"/>
            <a:ext cx="10515600" cy="4557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TW" altLang="zh-CN"/>
              <a:t>单击此处编辑母版文本样式</a:t>
            </a:r>
          </a:p>
          <a:p>
            <a:pPr lvl="1"/>
            <a:r>
              <a:rPr lang="zh-TW" altLang="zh-CN"/>
              <a:t>第二级</a:t>
            </a:r>
          </a:p>
          <a:p>
            <a:pPr lvl="2"/>
            <a:r>
              <a:rPr lang="zh-TW" altLang="zh-CN"/>
              <a:t>第三级</a:t>
            </a:r>
          </a:p>
          <a:p>
            <a:pPr lvl="3"/>
            <a:r>
              <a:rPr lang="zh-TW" altLang="zh-CN"/>
              <a:t>第四级</a:t>
            </a:r>
          </a:p>
          <a:p>
            <a:pPr lvl="4"/>
            <a:r>
              <a:rPr lang="zh-TW" altLang="zh-CN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Segoe UI Light" panose="020B0502040204020203" pitchFamily="34" charset="0"/>
          <a:ea typeface="微软雅黑 Light" panose="020B0502040204020203" pitchFamily="34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Segoe UI Light" panose="020B0502040204020203" pitchFamily="34" charset="0"/>
          <a:ea typeface="微软雅黑 Light" panose="020B0502040204020203" pitchFamily="34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Segoe UI Light" panose="020B0502040204020203" pitchFamily="34" charset="0"/>
          <a:ea typeface="微软雅黑 Light" panose="020B0502040204020203" pitchFamily="34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Segoe UI Light" panose="020B0502040204020203" pitchFamily="34" charset="0"/>
          <a:ea typeface="微软雅黑 Light" panose="020B0502040204020203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Segoe UI Light" panose="020B0502040204020203" pitchFamily="34" charset="0"/>
          <a:ea typeface="微软雅黑 Light" panose="020B0502040204020203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Segoe UI Light" panose="020B0502040204020203" pitchFamily="34" charset="0"/>
          <a:ea typeface="微软雅黑 Light" panose="020B0502040204020203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Segoe UI Light" panose="020B0502040204020203" pitchFamily="34" charset="0"/>
          <a:ea typeface="微软雅黑 Light" panose="020B0502040204020203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Segoe UI Light" panose="020B0502040204020203" pitchFamily="34" charset="0"/>
          <a:ea typeface="微软雅黑 Light" panose="020B0502040204020203" pitchFamily="34" charset="-122"/>
        </a:defRPr>
      </a:lvl9pPr>
    </p:titleStyle>
    <p:bodyStyle>
      <a:lvl1pPr marL="228600" indent="-228600" algn="l" rtl="0" fontAlgn="base">
        <a:lnSpc>
          <a:spcPct val="125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125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125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125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125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3.jpeg"/><Relationship Id="rId7" Type="http://schemas.openxmlformats.org/officeDocument/2006/relationships/image" Target="../media/image22.png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3" name="组合 2"/>
          <p:cNvGrpSpPr/>
          <p:nvPr/>
        </p:nvGrpSpPr>
        <p:grpSpPr bwMode="auto">
          <a:xfrm>
            <a:off x="3027363" y="2853291"/>
            <a:ext cx="4535270" cy="1504043"/>
            <a:chOff x="-1093" y="2964"/>
            <a:chExt cx="4406" cy="2066"/>
          </a:xfrm>
        </p:grpSpPr>
        <p:sp>
          <p:nvSpPr>
            <p:cNvPr id="13314" name="标题 1"/>
            <p:cNvSpPr>
              <a:spLocks noChangeArrowheads="1"/>
            </p:cNvSpPr>
            <p:nvPr/>
          </p:nvSpPr>
          <p:spPr bwMode="auto">
            <a:xfrm>
              <a:off x="386" y="2964"/>
              <a:ext cx="2927" cy="20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1pPr>
              <a:lvl2pPr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2pPr>
              <a:lvl3pPr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3pPr>
              <a:lvl4pPr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4pPr>
              <a:lvl5pPr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9pPr>
            </a:lstStyle>
            <a:p>
              <a:pPr algn="ctr"/>
              <a:r>
                <a:rPr lang="zh-CN" altLang="en-US" sz="2400" dirty="0">
                  <a:solidFill>
                    <a:srgbClr val="003466"/>
                  </a:solidFill>
                  <a:latin typeface="微软雅黑" panose="020B0503020204020204" pitchFamily="34" charset="-122"/>
                  <a:sym typeface="微软雅黑" panose="020B0503020204020204" pitchFamily="34" charset="-122"/>
                </a:rPr>
                <a:t>新朔铁路</a:t>
              </a:r>
              <a:endParaRPr lang="en-US" altLang="zh-CN" sz="2400" dirty="0">
                <a:solidFill>
                  <a:srgbClr val="003466"/>
                </a:solidFill>
                <a:latin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algn="ctr"/>
              <a:r>
                <a:rPr lang="zh-CN" altLang="en-US" sz="2400" dirty="0">
                  <a:solidFill>
                    <a:srgbClr val="003466"/>
                  </a:solidFill>
                  <a:latin typeface="微软雅黑" panose="020B0503020204020204" pitchFamily="34" charset="-122"/>
                  <a:sym typeface="微软雅黑" panose="020B0503020204020204" pitchFamily="34" charset="-122"/>
                </a:rPr>
                <a:t>智慧化仓储项目</a:t>
              </a:r>
            </a:p>
          </p:txBody>
        </p:sp>
        <p:sp>
          <p:nvSpPr>
            <p:cNvPr id="13315" name="标题 1"/>
            <p:cNvSpPr>
              <a:spLocks noChangeArrowheads="1"/>
            </p:cNvSpPr>
            <p:nvPr/>
          </p:nvSpPr>
          <p:spPr bwMode="auto">
            <a:xfrm>
              <a:off x="-1093" y="2969"/>
              <a:ext cx="1440" cy="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1pPr>
              <a:lvl2pPr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2pPr>
              <a:lvl3pPr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3pPr>
              <a:lvl4pPr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4pPr>
              <a:lvl5pPr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9pPr>
            </a:lstStyle>
            <a:p>
              <a:pPr algn="r"/>
              <a:r>
                <a:rPr lang="zh-CN" altLang="en-US" sz="2000">
                  <a:solidFill>
                    <a:srgbClr val="FD6400"/>
                  </a:solidFill>
                  <a:latin typeface="微软雅黑" panose="020B0503020204020204" pitchFamily="34" charset="-122"/>
                  <a:sym typeface="微软雅黑" panose="020B0503020204020204" pitchFamily="34" charset="-122"/>
                </a:rPr>
                <a:t>NO.</a:t>
              </a:r>
              <a:r>
                <a:rPr lang="en-US" altLang="zh-CN" sz="2000">
                  <a:solidFill>
                    <a:srgbClr val="FD6400"/>
                  </a:solidFill>
                  <a:latin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</a:p>
          </p:txBody>
        </p:sp>
      </p:grpSp>
      <p:sp>
        <p:nvSpPr>
          <p:cNvPr id="13316" name="Text Box 5"/>
          <p:cNvSpPr txBox="1">
            <a:spLocks noChangeArrowheads="1"/>
          </p:cNvSpPr>
          <p:nvPr/>
        </p:nvSpPr>
        <p:spPr bwMode="auto">
          <a:xfrm>
            <a:off x="8387509" y="2853354"/>
            <a:ext cx="1449388" cy="202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3pPr>
            <a:lvl4pPr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4pPr>
            <a:lvl5pPr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80000"/>
              </a:lnSpc>
            </a:pPr>
            <a:r>
              <a:rPr lang="zh-CN" altLang="en-US" sz="1600" dirty="0">
                <a:solidFill>
                  <a:srgbClr val="003466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产品简介 </a:t>
            </a:r>
          </a:p>
          <a:p>
            <a:pPr>
              <a:lnSpc>
                <a:spcPct val="180000"/>
              </a:lnSpc>
            </a:pPr>
            <a:r>
              <a:rPr lang="zh-CN" altLang="en-US" sz="1600" dirty="0">
                <a:solidFill>
                  <a:srgbClr val="003466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产品特色</a:t>
            </a:r>
          </a:p>
          <a:p>
            <a:pPr>
              <a:lnSpc>
                <a:spcPct val="180000"/>
              </a:lnSpc>
            </a:pPr>
            <a:r>
              <a:rPr lang="zh-CN" altLang="en-US" sz="1600" dirty="0">
                <a:solidFill>
                  <a:srgbClr val="003466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系统功能</a:t>
            </a:r>
          </a:p>
          <a:p>
            <a:pPr>
              <a:lnSpc>
                <a:spcPct val="110000"/>
              </a:lnSpc>
            </a:pPr>
            <a:r>
              <a:rPr lang="zh-CN" altLang="en-US" sz="1200" dirty="0">
                <a:solidFill>
                  <a:srgbClr val="003466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  </a:t>
            </a:r>
          </a:p>
          <a:p>
            <a:pPr>
              <a:lnSpc>
                <a:spcPct val="110000"/>
              </a:lnSpc>
            </a:pPr>
            <a:r>
              <a:rPr lang="zh-CN" altLang="en-US" sz="1200" dirty="0">
                <a:solidFill>
                  <a:srgbClr val="003466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     </a:t>
            </a:r>
          </a:p>
          <a:p>
            <a:pPr>
              <a:lnSpc>
                <a:spcPct val="110000"/>
              </a:lnSpc>
            </a:pPr>
            <a:r>
              <a:rPr lang="zh-CN" altLang="en-US" sz="1200" dirty="0">
                <a:solidFill>
                  <a:srgbClr val="003466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    </a:t>
            </a:r>
          </a:p>
        </p:txBody>
      </p:sp>
      <p:sp>
        <p:nvSpPr>
          <p:cNvPr id="13317" name="Freeform 5"/>
          <p:cNvSpPr>
            <a:spLocks noChangeArrowheads="1"/>
          </p:cNvSpPr>
          <p:nvPr/>
        </p:nvSpPr>
        <p:spPr bwMode="auto">
          <a:xfrm>
            <a:off x="3027363" y="3287713"/>
            <a:ext cx="792162" cy="715962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solidFill>
            <a:srgbClr val="FD64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3pPr>
            <a:lvl4pPr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4pPr>
            <a:lvl5pPr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9pPr>
          </a:lstStyle>
          <a:p>
            <a:endParaRPr lang="zh-CN" altLang="en-US"/>
          </a:p>
        </p:txBody>
      </p:sp>
      <p:sp>
        <p:nvSpPr>
          <p:cNvPr id="13318" name="椭圆 11"/>
          <p:cNvSpPr>
            <a:spLocks noChangeArrowheads="1"/>
          </p:cNvSpPr>
          <p:nvPr/>
        </p:nvSpPr>
        <p:spPr bwMode="auto">
          <a:xfrm>
            <a:off x="7923959" y="3013574"/>
            <a:ext cx="223838" cy="223838"/>
          </a:xfrm>
          <a:prstGeom prst="ellipse">
            <a:avLst/>
          </a:prstGeom>
          <a:solidFill>
            <a:srgbClr val="FD64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3pPr>
            <a:lvl4pPr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4pPr>
            <a:lvl5pPr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9pPr>
          </a:lstStyle>
          <a:p>
            <a:pPr eaLnBrk="0" hangingPunct="0"/>
            <a:endParaRPr lang="zh-TW" altLang="zh-CN"/>
          </a:p>
        </p:txBody>
      </p:sp>
      <p:pic>
        <p:nvPicPr>
          <p:cNvPr id="13319" name="图片 11" descr="timg-(1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6413" y="3395663"/>
            <a:ext cx="638175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20" name="椭圆 11"/>
          <p:cNvSpPr>
            <a:spLocks noChangeArrowheads="1"/>
          </p:cNvSpPr>
          <p:nvPr/>
        </p:nvSpPr>
        <p:spPr bwMode="auto">
          <a:xfrm>
            <a:off x="7923959" y="3442199"/>
            <a:ext cx="223838" cy="223838"/>
          </a:xfrm>
          <a:prstGeom prst="ellipse">
            <a:avLst/>
          </a:prstGeom>
          <a:solidFill>
            <a:srgbClr val="FD64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3pPr>
            <a:lvl4pPr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4pPr>
            <a:lvl5pPr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9pPr>
          </a:lstStyle>
          <a:p>
            <a:pPr eaLnBrk="0" hangingPunct="0"/>
            <a:endParaRPr lang="zh-TW" altLang="zh-CN"/>
          </a:p>
        </p:txBody>
      </p:sp>
      <p:sp>
        <p:nvSpPr>
          <p:cNvPr id="13321" name="椭圆 11"/>
          <p:cNvSpPr>
            <a:spLocks noChangeArrowheads="1"/>
          </p:cNvSpPr>
          <p:nvPr/>
        </p:nvSpPr>
        <p:spPr bwMode="auto">
          <a:xfrm>
            <a:off x="7925547" y="3916862"/>
            <a:ext cx="223837" cy="223837"/>
          </a:xfrm>
          <a:prstGeom prst="ellipse">
            <a:avLst/>
          </a:prstGeom>
          <a:solidFill>
            <a:srgbClr val="FD64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3pPr>
            <a:lvl4pPr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4pPr>
            <a:lvl5pPr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9pPr>
          </a:lstStyle>
          <a:p>
            <a:pPr eaLnBrk="0" hangingPunct="0"/>
            <a:endParaRPr lang="zh-TW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7" name="图片 2" descr="b8df08cd044770409773f86c29c9b72fa833b2e935812-97tMq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63" y="-1588"/>
            <a:ext cx="4748213" cy="6861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38" name="文本框 11"/>
          <p:cNvSpPr txBox="1">
            <a:spLocks noChangeArrowheads="1"/>
          </p:cNvSpPr>
          <p:nvPr/>
        </p:nvSpPr>
        <p:spPr bwMode="auto">
          <a:xfrm>
            <a:off x="5663681" y="2314769"/>
            <a:ext cx="5728996" cy="26395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3pPr>
            <a:lvl4pPr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4pPr>
            <a:lvl5pPr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9pPr>
          </a:lstStyle>
          <a:p>
            <a:pPr marL="0" lvl="1">
              <a:lnSpc>
                <a:spcPct val="150000"/>
              </a:lnSpc>
            </a:pPr>
            <a:r>
              <a:rPr lang="en-US" altLang="zh-CN" sz="1400" dirty="0">
                <a:solidFill>
                  <a:srgbClr val="003466"/>
                </a:solidFill>
                <a:latin typeface="微软雅黑" panose="020B0503020204020204" pitchFamily="34" charset="-122"/>
                <a:sym typeface="+mn-ea"/>
              </a:rPr>
              <a:t>       </a:t>
            </a:r>
            <a:r>
              <a:rPr lang="zh-CN" altLang="zh-CN" sz="1400" dirty="0">
                <a:solidFill>
                  <a:srgbClr val="003466"/>
                </a:solidFill>
                <a:latin typeface="微软雅黑" panose="020B0503020204020204" pitchFamily="34" charset="-122"/>
              </a:rPr>
              <a:t>仓库智慧化出入库设备须具备仓储管理过程可视化、可追溯化、事中控制和预防等功能</a:t>
            </a:r>
            <a:r>
              <a:rPr lang="zh-CN" altLang="en-US" sz="1400" dirty="0">
                <a:solidFill>
                  <a:srgbClr val="003466"/>
                </a:solidFill>
                <a:latin typeface="微软雅黑" panose="020B0503020204020204" pitchFamily="34" charset="-122"/>
                <a:sym typeface="+mn-ea"/>
              </a:rPr>
              <a:t>。</a:t>
            </a:r>
          </a:p>
          <a:p>
            <a:pPr marL="0" lvl="1">
              <a:lnSpc>
                <a:spcPct val="150000"/>
              </a:lnSpc>
            </a:pPr>
            <a:r>
              <a:rPr lang="zh-CN" altLang="en-US" sz="1400" dirty="0">
                <a:solidFill>
                  <a:srgbClr val="003466"/>
                </a:solidFill>
                <a:latin typeface="微软雅黑" panose="020B0503020204020204" pitchFamily="34" charset="-122"/>
                <a:sym typeface="+mn-ea"/>
              </a:rPr>
              <a:t>       本项目</a:t>
            </a:r>
            <a:r>
              <a:rPr lang="zh-CN" altLang="zh-CN" sz="1400" dirty="0">
                <a:solidFill>
                  <a:srgbClr val="003466"/>
                </a:solidFill>
                <a:latin typeface="微软雅黑" panose="020B0503020204020204" pitchFamily="34" charset="-122"/>
              </a:rPr>
              <a:t>由</a:t>
            </a:r>
            <a:r>
              <a:rPr lang="en-US" altLang="zh-CN" sz="1400" dirty="0">
                <a:solidFill>
                  <a:srgbClr val="003466"/>
                </a:solidFill>
                <a:latin typeface="微软雅黑" panose="020B0503020204020204" pitchFamily="34" charset="-122"/>
              </a:rPr>
              <a:t>RFID</a:t>
            </a:r>
            <a:r>
              <a:rPr lang="zh-CN" altLang="zh-CN" sz="1400" dirty="0">
                <a:solidFill>
                  <a:srgbClr val="003466"/>
                </a:solidFill>
                <a:latin typeface="微软雅黑" panose="020B0503020204020204" pitchFamily="34" charset="-122"/>
              </a:rPr>
              <a:t>手持终端（具备</a:t>
            </a:r>
            <a:r>
              <a:rPr lang="en-US" altLang="zh-CN" sz="1400" dirty="0">
                <a:solidFill>
                  <a:srgbClr val="003466"/>
                </a:solidFill>
                <a:latin typeface="微软雅黑" panose="020B0503020204020204" pitchFamily="34" charset="-122"/>
              </a:rPr>
              <a:t>2G/3G/4G</a:t>
            </a:r>
            <a:r>
              <a:rPr lang="zh-CN" altLang="zh-CN" sz="1400" dirty="0">
                <a:solidFill>
                  <a:srgbClr val="003466"/>
                </a:solidFill>
                <a:latin typeface="微软雅黑" panose="020B0503020204020204" pitchFamily="34" charset="-122"/>
              </a:rPr>
              <a:t>功能）、射频识别（</a:t>
            </a:r>
            <a:r>
              <a:rPr lang="en-US" altLang="zh-CN" sz="1400" dirty="0">
                <a:solidFill>
                  <a:srgbClr val="003466"/>
                </a:solidFill>
                <a:latin typeface="微软雅黑" panose="020B0503020204020204" pitchFamily="34" charset="-122"/>
              </a:rPr>
              <a:t>RFID</a:t>
            </a:r>
            <a:r>
              <a:rPr lang="zh-CN" altLang="zh-CN" sz="1400" dirty="0">
                <a:solidFill>
                  <a:srgbClr val="003466"/>
                </a:solidFill>
                <a:latin typeface="微软雅黑" panose="020B0503020204020204" pitchFamily="34" charset="-122"/>
              </a:rPr>
              <a:t>）门禁系统、仓储管理系统及其相关设备组成。建立仓储管理系统，实现与国家能源集团物资</a:t>
            </a:r>
            <a:r>
              <a:rPr lang="en-US" altLang="zh-CN" sz="1400" dirty="0">
                <a:solidFill>
                  <a:srgbClr val="003466"/>
                </a:solidFill>
                <a:latin typeface="微软雅黑" panose="020B0503020204020204" pitchFamily="34" charset="-122"/>
              </a:rPr>
              <a:t>ERP</a:t>
            </a:r>
            <a:r>
              <a:rPr lang="zh-CN" altLang="zh-CN" sz="1400" dirty="0">
                <a:solidFill>
                  <a:srgbClr val="003466"/>
                </a:solidFill>
                <a:latin typeface="微软雅黑" panose="020B0503020204020204" pitchFamily="34" charset="-122"/>
              </a:rPr>
              <a:t>系统的连通，构建一体化管理系统，实现领料人从提交申请到进库按照页面提示领料，提升领料效率、简化领料过程，实现便捷取货</a:t>
            </a:r>
            <a:r>
              <a:rPr lang="zh-CN" altLang="en-US" sz="1400" dirty="0">
                <a:solidFill>
                  <a:srgbClr val="003466"/>
                </a:solidFill>
                <a:latin typeface="微软雅黑" panose="020B0503020204020204" pitchFamily="34" charset="-122"/>
                <a:sym typeface="+mn-ea"/>
              </a:rPr>
              <a:t>。</a:t>
            </a:r>
          </a:p>
          <a:p>
            <a:pPr marL="0" lvl="1">
              <a:lnSpc>
                <a:spcPct val="150000"/>
              </a:lnSpc>
            </a:pPr>
            <a:r>
              <a:rPr lang="zh-CN" altLang="en-US" sz="1400" dirty="0">
                <a:solidFill>
                  <a:srgbClr val="003466"/>
                </a:solidFill>
                <a:latin typeface="微软雅黑" panose="020B0503020204020204" pitchFamily="34" charset="-122"/>
                <a:sym typeface="+mn-ea"/>
              </a:rPr>
              <a:t>      采用前后端分离技术：</a:t>
            </a:r>
            <a:r>
              <a:rPr lang="en-US" altLang="zh-CN" sz="1400" dirty="0" err="1">
                <a:solidFill>
                  <a:srgbClr val="003466"/>
                </a:solidFill>
                <a:latin typeface="微软雅黑" panose="020B0503020204020204" pitchFamily="34" charset="-122"/>
                <a:sym typeface="+mn-ea"/>
              </a:rPr>
              <a:t>Springcloud+Vue+pda</a:t>
            </a:r>
            <a:r>
              <a:rPr lang="zh-CN" altLang="en-US" sz="1400" dirty="0">
                <a:solidFill>
                  <a:srgbClr val="003466"/>
                </a:solidFill>
                <a:latin typeface="微软雅黑" panose="020B0503020204020204" pitchFamily="34" charset="-122"/>
                <a:sym typeface="+mn-ea"/>
              </a:rPr>
              <a:t>。</a:t>
            </a:r>
          </a:p>
        </p:txBody>
      </p:sp>
      <p:cxnSp>
        <p:nvCxnSpPr>
          <p:cNvPr id="17" name="直接连接符 16"/>
          <p:cNvCxnSpPr/>
          <p:nvPr/>
        </p:nvCxnSpPr>
        <p:spPr>
          <a:xfrm>
            <a:off x="6807200" y="1157288"/>
            <a:ext cx="4459288" cy="0"/>
          </a:xfrm>
          <a:prstGeom prst="line">
            <a:avLst/>
          </a:prstGeom>
          <a:ln w="28575" cmpd="sng">
            <a:solidFill>
              <a:srgbClr val="EF5D0D"/>
            </a:solidFill>
            <a:prstDash val="solid"/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341" name="椭圆 1"/>
          <p:cNvSpPr>
            <a:spLocks noChangeArrowheads="1"/>
          </p:cNvSpPr>
          <p:nvPr/>
        </p:nvSpPr>
        <p:spPr bwMode="auto">
          <a:xfrm>
            <a:off x="5524500" y="571500"/>
            <a:ext cx="1143000" cy="1171575"/>
          </a:xfrm>
          <a:prstGeom prst="ellipse">
            <a:avLst/>
          </a:prstGeom>
          <a:solidFill>
            <a:srgbClr val="EF5D0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3pPr>
            <a:lvl4pPr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4pPr>
            <a:lvl5pPr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9pPr>
          </a:lstStyle>
          <a:p>
            <a:pPr algn="ctr" eaLnBrk="0" hangingPunct="0"/>
            <a:r>
              <a:rPr lang="zh-CN" altLang="zh-TW" sz="2000">
                <a:solidFill>
                  <a:schemeClr val="bg1"/>
                </a:solidFill>
              </a:rPr>
              <a:t>产品介绍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E6C1C6-C367-958B-0959-14CC83141AB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30" y="2215663"/>
            <a:ext cx="4742220" cy="22191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5069C2A-A23D-D620-681C-0540AFE7A7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9528" y="5575088"/>
            <a:ext cx="1426283" cy="101028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B519D92-1533-3A28-000D-8BB15702EB0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5513" y="4436420"/>
            <a:ext cx="4758963" cy="2421580"/>
          </a:xfrm>
          <a:prstGeom prst="rect">
            <a:avLst/>
          </a:prstGeom>
        </p:spPr>
      </p:pic>
      <p:pic>
        <p:nvPicPr>
          <p:cNvPr id="1029" name="图片 201">
            <a:extLst>
              <a:ext uri="{FF2B5EF4-FFF2-40B4-BE49-F238E27FC236}">
                <a16:creationId xmlns:a16="http://schemas.microsoft.com/office/drawing/2014/main" id="{94987855-7809-F8D6-D4E7-9586B4001B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457104" y="3568026"/>
            <a:ext cx="1413115" cy="2512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6B6B872-C2B7-168D-1E59-EB3B6EF98E8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5513" y="0"/>
            <a:ext cx="4758963" cy="2262901"/>
          </a:xfrm>
          <a:prstGeom prst="rect">
            <a:avLst/>
          </a:prstGeom>
        </p:spPr>
      </p:pic>
      <p:pic>
        <p:nvPicPr>
          <p:cNvPr id="2" name="图片 155">
            <a:extLst>
              <a:ext uri="{FF2B5EF4-FFF2-40B4-BE49-F238E27FC236}">
                <a16:creationId xmlns:a16="http://schemas.microsoft.com/office/drawing/2014/main" id="{AED20B91-B2C6-550F-1D7B-230C3AB262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330335" y="1968716"/>
            <a:ext cx="1413115" cy="2760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7" name="图片 2" descr="b8df08cd044770409773f86c29c9b72fa833b2e935812-97tMq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63" y="-1588"/>
            <a:ext cx="4748213" cy="6861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39" name="文本框 9"/>
          <p:cNvSpPr txBox="1">
            <a:spLocks noChangeArrowheads="1"/>
          </p:cNvSpPr>
          <p:nvPr/>
        </p:nvSpPr>
        <p:spPr bwMode="auto">
          <a:xfrm>
            <a:off x="6340669" y="2557203"/>
            <a:ext cx="4657725" cy="1872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66" tIns="34283" rIns="68566" bIns="34283">
            <a:sp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3pPr>
            <a:lvl4pPr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4pPr>
            <a:lvl5pPr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9pPr>
          </a:lstStyle>
          <a:p>
            <a:pPr marL="0" lvl="1">
              <a:lnSpc>
                <a:spcPct val="150000"/>
              </a:lnSpc>
            </a:pPr>
            <a:r>
              <a:rPr lang="zh-CN" altLang="zh-CN" sz="1600" dirty="0">
                <a:solidFill>
                  <a:srgbClr val="003466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使用人群</a:t>
            </a:r>
            <a:r>
              <a:rPr lang="zh-CN" altLang="en-US" sz="1600" dirty="0">
                <a:solidFill>
                  <a:srgbClr val="003466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： </a:t>
            </a:r>
            <a:r>
              <a:rPr lang="en-US" altLang="zh-CN" sz="1600" dirty="0">
                <a:solidFill>
                  <a:srgbClr val="003466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1.</a:t>
            </a:r>
            <a:r>
              <a:rPr lang="zh-CN" altLang="en-US" sz="1600" dirty="0">
                <a:solidFill>
                  <a:srgbClr val="003466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机务管理人员；</a:t>
            </a:r>
            <a:r>
              <a:rPr lang="en-US" altLang="zh-CN" sz="1600" dirty="0">
                <a:solidFill>
                  <a:srgbClr val="003466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 2.</a:t>
            </a:r>
            <a:r>
              <a:rPr lang="zh-CN" altLang="en-US" sz="1600" dirty="0">
                <a:solidFill>
                  <a:srgbClr val="003466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仓管员；</a:t>
            </a:r>
            <a:endParaRPr lang="en-US" altLang="zh-CN" sz="1600" dirty="0">
              <a:solidFill>
                <a:srgbClr val="003466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003466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r>
              <a:rPr lang="en-US" altLang="zh-CN" sz="1600" dirty="0" err="1">
                <a:solidFill>
                  <a:srgbClr val="003466"/>
                </a:solidFill>
                <a:latin typeface="微软雅黑" panose="020B0503020204020204" pitchFamily="34" charset="-122"/>
              </a:rPr>
              <a:t>项目</a:t>
            </a:r>
            <a:r>
              <a:rPr lang="en-US" altLang="zh-CN" sz="1600" dirty="0">
                <a:solidFill>
                  <a:srgbClr val="003466"/>
                </a:solidFill>
                <a:latin typeface="微软雅黑" panose="020B0503020204020204" pitchFamily="34" charset="-122"/>
              </a:rPr>
              <a:t>/</a:t>
            </a:r>
            <a:r>
              <a:rPr lang="en-US" altLang="zh-CN" sz="1600" dirty="0" err="1">
                <a:solidFill>
                  <a:srgbClr val="003466"/>
                </a:solidFill>
                <a:latin typeface="微软雅黑" panose="020B0503020204020204" pitchFamily="34" charset="-122"/>
              </a:rPr>
              <a:t>产品载体</a:t>
            </a:r>
            <a:r>
              <a:rPr lang="en-US" altLang="zh-CN" sz="1600" dirty="0">
                <a:solidFill>
                  <a:srgbClr val="003466"/>
                </a:solidFill>
                <a:latin typeface="微软雅黑" panose="020B0503020204020204" pitchFamily="34" charset="-122"/>
              </a:rPr>
              <a:t>： PC+PDA</a:t>
            </a: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003466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r>
              <a:rPr lang="en-US" altLang="zh-CN" sz="1600" dirty="0" err="1">
                <a:solidFill>
                  <a:srgbClr val="003466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代表案例参考</a:t>
            </a:r>
            <a:r>
              <a:rPr lang="en-US" altLang="zh-CN" sz="1600" dirty="0">
                <a:solidFill>
                  <a:srgbClr val="003466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 ： </a:t>
            </a:r>
            <a:r>
              <a:rPr lang="zh-CN" altLang="en-US" sz="1600" dirty="0">
                <a:solidFill>
                  <a:srgbClr val="003466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无</a:t>
            </a:r>
          </a:p>
        </p:txBody>
      </p:sp>
      <p:cxnSp>
        <p:nvCxnSpPr>
          <p:cNvPr id="17" name="直接连接符 16"/>
          <p:cNvCxnSpPr/>
          <p:nvPr/>
        </p:nvCxnSpPr>
        <p:spPr>
          <a:xfrm>
            <a:off x="6807200" y="1157288"/>
            <a:ext cx="4459288" cy="0"/>
          </a:xfrm>
          <a:prstGeom prst="line">
            <a:avLst/>
          </a:prstGeom>
          <a:ln w="28575" cmpd="sng">
            <a:solidFill>
              <a:srgbClr val="EF5D0D"/>
            </a:solidFill>
            <a:prstDash val="solid"/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341" name="椭圆 1"/>
          <p:cNvSpPr>
            <a:spLocks noChangeArrowheads="1"/>
          </p:cNvSpPr>
          <p:nvPr/>
        </p:nvSpPr>
        <p:spPr bwMode="auto">
          <a:xfrm>
            <a:off x="5524500" y="571500"/>
            <a:ext cx="1143000" cy="1171575"/>
          </a:xfrm>
          <a:prstGeom prst="ellipse">
            <a:avLst/>
          </a:prstGeom>
          <a:solidFill>
            <a:srgbClr val="EF5D0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3pPr>
            <a:lvl4pPr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4pPr>
            <a:lvl5pPr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9pPr>
          </a:lstStyle>
          <a:p>
            <a:pPr algn="ctr" eaLnBrk="0" hangingPunct="0"/>
            <a:r>
              <a:rPr lang="zh-CN" altLang="zh-TW" sz="2000">
                <a:solidFill>
                  <a:schemeClr val="bg1"/>
                </a:solidFill>
              </a:rPr>
              <a:t>产品介绍</a:t>
            </a:r>
          </a:p>
        </p:txBody>
      </p:sp>
      <p:grpSp>
        <p:nvGrpSpPr>
          <p:cNvPr id="14343" name="组合 5"/>
          <p:cNvGrpSpPr/>
          <p:nvPr/>
        </p:nvGrpSpPr>
        <p:grpSpPr bwMode="auto">
          <a:xfrm>
            <a:off x="5767264" y="2557202"/>
            <a:ext cx="536575" cy="2164087"/>
            <a:chOff x="9121" y="6424"/>
            <a:chExt cx="846" cy="3118"/>
          </a:xfrm>
        </p:grpSpPr>
        <p:pic>
          <p:nvPicPr>
            <p:cNvPr id="14344" name="图片 2" descr="案例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21" y="8696"/>
              <a:ext cx="846" cy="8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345" name="图片 3" descr="载体测试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34" y="7517"/>
              <a:ext cx="777" cy="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346" name="图片 4" descr="使用者 (1)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78" y="6424"/>
              <a:ext cx="656" cy="6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B9687027-CE7D-1F3D-2BA9-66E45E992D2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958" y="174823"/>
            <a:ext cx="4717492" cy="2137613"/>
          </a:xfrm>
          <a:prstGeom prst="rect">
            <a:avLst/>
          </a:prstGeom>
        </p:spPr>
      </p:pic>
      <p:pic>
        <p:nvPicPr>
          <p:cNvPr id="2051" name="图片 202">
            <a:extLst>
              <a:ext uri="{FF2B5EF4-FFF2-40B4-BE49-F238E27FC236}">
                <a16:creationId xmlns:a16="http://schemas.microsoft.com/office/drawing/2014/main" id="{1D4B5C0D-3985-1099-9C6F-13C67CDEB9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286654" y="2655278"/>
            <a:ext cx="2096587" cy="37272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1" name="图片 2" descr="b8df08cd044770409773f86c29c9b72fa833b2e935812-97tMq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63" y="-1588"/>
            <a:ext cx="4748213" cy="6861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2" name="文本框 11"/>
          <p:cNvSpPr txBox="1">
            <a:spLocks noChangeArrowheads="1"/>
          </p:cNvSpPr>
          <p:nvPr/>
        </p:nvSpPr>
        <p:spPr bwMode="auto">
          <a:xfrm>
            <a:off x="5728664" y="2307905"/>
            <a:ext cx="6224588" cy="1526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3pPr>
            <a:lvl4pPr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4pPr>
            <a:lvl5pPr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9pPr>
          </a:lstStyle>
          <a:p>
            <a:pPr marL="0" lvl="1">
              <a:lnSpc>
                <a:spcPct val="150000"/>
              </a:lnSpc>
            </a:pPr>
            <a:r>
              <a:rPr lang="en-US" altLang="zh-CN" sz="1600" dirty="0">
                <a:solidFill>
                  <a:srgbClr val="003466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1</a:t>
            </a:r>
            <a:r>
              <a:rPr lang="zh-CN" altLang="en-US" sz="1600" dirty="0">
                <a:solidFill>
                  <a:srgbClr val="003466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、多个仓管员同时管理；</a:t>
            </a:r>
            <a:endParaRPr lang="en-US" altLang="zh-CN" sz="1600" dirty="0">
              <a:solidFill>
                <a:srgbClr val="003466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r>
              <a:rPr lang="en-US" altLang="zh-CN" sz="1600" dirty="0">
                <a:solidFill>
                  <a:srgbClr val="003466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2</a:t>
            </a:r>
            <a:r>
              <a:rPr lang="zh-CN" altLang="en-US" sz="1600" dirty="0">
                <a:solidFill>
                  <a:srgbClr val="003466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、软硬件结合，智能调度叉车、</a:t>
            </a:r>
            <a:r>
              <a:rPr lang="en-US" altLang="zh-CN" sz="1600" dirty="0">
                <a:solidFill>
                  <a:srgbClr val="003466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AGV</a:t>
            </a:r>
            <a:r>
              <a:rPr lang="zh-CN" altLang="en-US" sz="1600" dirty="0">
                <a:solidFill>
                  <a:srgbClr val="003466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等设备；</a:t>
            </a:r>
            <a:endParaRPr lang="en-US" altLang="zh-CN" sz="1600" dirty="0">
              <a:solidFill>
                <a:srgbClr val="003466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r>
              <a:rPr lang="en-US" altLang="zh-CN" sz="1600" dirty="0">
                <a:solidFill>
                  <a:srgbClr val="003466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3</a:t>
            </a:r>
            <a:r>
              <a:rPr lang="zh-CN" altLang="en-US" sz="1600" dirty="0">
                <a:solidFill>
                  <a:srgbClr val="003466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、</a:t>
            </a:r>
            <a:r>
              <a:rPr lang="en-US" altLang="zh-CN" sz="1600" dirty="0">
                <a:solidFill>
                  <a:srgbClr val="003466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RFID</a:t>
            </a:r>
            <a:r>
              <a:rPr lang="zh-CN" altLang="en-US" sz="1600" dirty="0">
                <a:solidFill>
                  <a:srgbClr val="003466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定位监测物资物料；</a:t>
            </a:r>
            <a:endParaRPr lang="en-US" altLang="zh-CN" sz="1600" dirty="0">
              <a:solidFill>
                <a:srgbClr val="003466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r>
              <a:rPr lang="en-US" altLang="zh-CN" sz="1600" dirty="0">
                <a:solidFill>
                  <a:srgbClr val="003466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4</a:t>
            </a:r>
            <a:r>
              <a:rPr lang="zh-CN" altLang="en-US" sz="1600" dirty="0">
                <a:solidFill>
                  <a:srgbClr val="003466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、实时获取库存等数据；</a:t>
            </a:r>
          </a:p>
        </p:txBody>
      </p:sp>
      <p:cxnSp>
        <p:nvCxnSpPr>
          <p:cNvPr id="17" name="直接连接符 16"/>
          <p:cNvCxnSpPr/>
          <p:nvPr/>
        </p:nvCxnSpPr>
        <p:spPr>
          <a:xfrm>
            <a:off x="6807200" y="1157288"/>
            <a:ext cx="4459288" cy="0"/>
          </a:xfrm>
          <a:prstGeom prst="line">
            <a:avLst/>
          </a:prstGeom>
          <a:ln w="28575" cmpd="sng">
            <a:solidFill>
              <a:srgbClr val="EF5D0D"/>
            </a:solidFill>
            <a:prstDash val="solid"/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364" name="椭圆 1"/>
          <p:cNvSpPr>
            <a:spLocks noChangeArrowheads="1"/>
          </p:cNvSpPr>
          <p:nvPr/>
        </p:nvSpPr>
        <p:spPr bwMode="auto">
          <a:xfrm>
            <a:off x="5524500" y="571500"/>
            <a:ext cx="1143000" cy="1171575"/>
          </a:xfrm>
          <a:prstGeom prst="ellipse">
            <a:avLst/>
          </a:prstGeom>
          <a:solidFill>
            <a:srgbClr val="EF5D0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3pPr>
            <a:lvl4pPr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4pPr>
            <a:lvl5pPr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9pPr>
          </a:lstStyle>
          <a:p>
            <a:pPr algn="ctr" eaLnBrk="0" hangingPunct="0"/>
            <a:r>
              <a:rPr lang="zh-CN" altLang="zh-TW" sz="2000">
                <a:solidFill>
                  <a:schemeClr val="bg1"/>
                </a:solidFill>
              </a:rPr>
              <a:t>产品特色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2808BC-1261-BCA7-2C4C-1FDF8A1584D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537667"/>
            <a:ext cx="4743450" cy="266819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5" name="图片 2" descr="b8df08cd044770409773f86c29c9b72fa833b2e935812-97tMqs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63" y="-1588"/>
            <a:ext cx="4748213" cy="6861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7" name="直接连接符 16"/>
          <p:cNvCxnSpPr/>
          <p:nvPr/>
        </p:nvCxnSpPr>
        <p:spPr>
          <a:xfrm>
            <a:off x="6807200" y="1157288"/>
            <a:ext cx="4459288" cy="0"/>
          </a:xfrm>
          <a:prstGeom prst="line">
            <a:avLst/>
          </a:prstGeom>
          <a:ln w="28575" cmpd="sng">
            <a:solidFill>
              <a:srgbClr val="EF5D0D"/>
            </a:solidFill>
            <a:prstDash val="solid"/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387" name="椭圆 1"/>
          <p:cNvSpPr>
            <a:spLocks noChangeArrowheads="1"/>
          </p:cNvSpPr>
          <p:nvPr/>
        </p:nvSpPr>
        <p:spPr bwMode="auto">
          <a:xfrm>
            <a:off x="5553075" y="571500"/>
            <a:ext cx="1143000" cy="1171575"/>
          </a:xfrm>
          <a:prstGeom prst="ellipse">
            <a:avLst/>
          </a:prstGeom>
          <a:solidFill>
            <a:srgbClr val="EF5D0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3pPr>
            <a:lvl4pPr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4pPr>
            <a:lvl5pPr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9pPr>
          </a:lstStyle>
          <a:p>
            <a:pPr algn="ctr" eaLnBrk="0" hangingPunct="0"/>
            <a:r>
              <a:rPr lang="zh-CN" altLang="zh-TW" sz="2000" dirty="0">
                <a:solidFill>
                  <a:schemeClr val="bg1"/>
                </a:solidFill>
              </a:rPr>
              <a:t>系统功能</a:t>
            </a:r>
          </a:p>
        </p:txBody>
      </p:sp>
      <p:sp>
        <p:nvSpPr>
          <p:cNvPr id="16388" name="文本框 7"/>
          <p:cNvSpPr txBox="1">
            <a:spLocks noChangeArrowheads="1"/>
          </p:cNvSpPr>
          <p:nvPr/>
        </p:nvSpPr>
        <p:spPr bwMode="auto">
          <a:xfrm>
            <a:off x="5553075" y="2478103"/>
            <a:ext cx="5843588" cy="3372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3pPr>
            <a:lvl4pPr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4pPr>
            <a:lvl5pPr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9pPr>
          </a:lstStyle>
          <a:p>
            <a:pPr marL="0" lvl="1">
              <a:lnSpc>
                <a:spcPct val="150000"/>
              </a:lnSpc>
            </a:pPr>
            <a:r>
              <a:rPr lang="zh-CN" altLang="en-US" sz="1600" dirty="0">
                <a:solidFill>
                  <a:srgbClr val="003466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一、</a:t>
            </a:r>
            <a:r>
              <a:rPr lang="en-US" altLang="zh-CN" sz="1600" dirty="0">
                <a:solidFill>
                  <a:srgbClr val="003466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PC</a:t>
            </a:r>
            <a:r>
              <a:rPr lang="zh-CN" altLang="en-US" sz="1600" dirty="0">
                <a:solidFill>
                  <a:srgbClr val="003466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端功能：</a:t>
            </a:r>
          </a:p>
          <a:p>
            <a:pPr marL="0" lvl="1">
              <a:lnSpc>
                <a:spcPct val="150000"/>
              </a:lnSpc>
            </a:pPr>
            <a:r>
              <a:rPr lang="en-US" altLang="zh-CN" sz="1600" dirty="0">
                <a:solidFill>
                  <a:srgbClr val="003466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1</a:t>
            </a:r>
            <a:r>
              <a:rPr lang="zh-CN" altLang="en-US" sz="1600" dirty="0">
                <a:solidFill>
                  <a:srgbClr val="003466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、基础管理</a:t>
            </a:r>
          </a:p>
          <a:p>
            <a:pPr marL="0" lvl="1">
              <a:lnSpc>
                <a:spcPct val="150000"/>
              </a:lnSpc>
            </a:pPr>
            <a:r>
              <a:rPr lang="en-US" altLang="zh-CN" sz="1600" dirty="0">
                <a:solidFill>
                  <a:srgbClr val="003466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2</a:t>
            </a:r>
            <a:r>
              <a:rPr lang="zh-CN" altLang="en-US" sz="1600" dirty="0">
                <a:solidFill>
                  <a:srgbClr val="003466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、入库管理</a:t>
            </a:r>
          </a:p>
          <a:p>
            <a:pPr marL="0" lvl="1">
              <a:lnSpc>
                <a:spcPct val="150000"/>
              </a:lnSpc>
            </a:pPr>
            <a:r>
              <a:rPr lang="en-US" altLang="zh-CN" sz="1600" dirty="0">
                <a:solidFill>
                  <a:srgbClr val="003466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3</a:t>
            </a:r>
            <a:r>
              <a:rPr lang="zh-CN" altLang="en-US" sz="1600" dirty="0">
                <a:solidFill>
                  <a:srgbClr val="003466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、出库管理</a:t>
            </a:r>
            <a:endParaRPr lang="en-US" altLang="zh-CN" sz="1600" dirty="0">
              <a:solidFill>
                <a:srgbClr val="003466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r>
              <a:rPr lang="en-US" altLang="zh-CN" sz="1600" dirty="0">
                <a:solidFill>
                  <a:srgbClr val="003466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4</a:t>
            </a:r>
            <a:r>
              <a:rPr lang="zh-CN" altLang="en-US" sz="1600" dirty="0">
                <a:solidFill>
                  <a:srgbClr val="003466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、库存管理</a:t>
            </a:r>
            <a:endParaRPr lang="en-US" altLang="zh-CN" sz="1600" dirty="0">
              <a:solidFill>
                <a:srgbClr val="003466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r>
              <a:rPr lang="en-US" altLang="zh-CN" sz="1600" dirty="0">
                <a:solidFill>
                  <a:srgbClr val="003466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5</a:t>
            </a:r>
            <a:r>
              <a:rPr lang="zh-CN" altLang="en-US" sz="1600">
                <a:solidFill>
                  <a:srgbClr val="003466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、仓库盘点</a:t>
            </a:r>
            <a:endParaRPr lang="en-US" altLang="zh-CN" sz="1600" dirty="0">
              <a:solidFill>
                <a:srgbClr val="003466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r>
              <a:rPr lang="en-US" altLang="zh-CN" sz="1600" dirty="0">
                <a:solidFill>
                  <a:srgbClr val="003466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6</a:t>
            </a:r>
            <a:r>
              <a:rPr lang="zh-CN" altLang="en-US" sz="1600" dirty="0">
                <a:solidFill>
                  <a:srgbClr val="003466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、设备管理</a:t>
            </a:r>
            <a:endParaRPr lang="en-US" altLang="zh-CN" sz="1600" dirty="0">
              <a:solidFill>
                <a:srgbClr val="003466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r>
              <a:rPr lang="en-US" altLang="zh-CN" sz="1600" dirty="0">
                <a:solidFill>
                  <a:srgbClr val="003466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7</a:t>
            </a:r>
            <a:r>
              <a:rPr lang="zh-CN" altLang="en-US" sz="1600" dirty="0">
                <a:solidFill>
                  <a:srgbClr val="003466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、系统设置</a:t>
            </a:r>
            <a:endParaRPr lang="en-US" altLang="zh-CN" sz="1600" dirty="0">
              <a:solidFill>
                <a:srgbClr val="003466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r>
              <a:rPr lang="en-US" altLang="zh-CN" sz="1600" dirty="0">
                <a:solidFill>
                  <a:srgbClr val="003466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8</a:t>
            </a:r>
            <a:r>
              <a:rPr lang="zh-CN" altLang="en-US" sz="1600" dirty="0">
                <a:solidFill>
                  <a:srgbClr val="003466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、报表统计</a:t>
            </a:r>
            <a:endParaRPr lang="en-US" altLang="zh-CN" sz="1600" dirty="0">
              <a:solidFill>
                <a:srgbClr val="003466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BA33E60-BA48-78CF-9FDC-C2EB8E57756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38" y="-1"/>
            <a:ext cx="4736401" cy="230358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B18A6EB3-96E4-A4F4-B79C-53FAC2F296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613031"/>
            <a:ext cx="4737739" cy="224496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8B4300E-EA4C-6198-2D0D-0F4F3772AF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303584"/>
            <a:ext cx="4737739" cy="22969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5" name="图片 2" descr="b8df08cd044770409773f86c29c9b72fa833b2e935812-97tMqs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63" y="-1588"/>
            <a:ext cx="4748213" cy="6861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7" name="直接连接符 16"/>
          <p:cNvCxnSpPr/>
          <p:nvPr/>
        </p:nvCxnSpPr>
        <p:spPr>
          <a:xfrm>
            <a:off x="6807200" y="1157288"/>
            <a:ext cx="4459288" cy="0"/>
          </a:xfrm>
          <a:prstGeom prst="line">
            <a:avLst/>
          </a:prstGeom>
          <a:ln w="28575" cmpd="sng">
            <a:solidFill>
              <a:srgbClr val="EF5D0D"/>
            </a:solidFill>
            <a:prstDash val="solid"/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387" name="椭圆 1"/>
          <p:cNvSpPr>
            <a:spLocks noChangeArrowheads="1"/>
          </p:cNvSpPr>
          <p:nvPr/>
        </p:nvSpPr>
        <p:spPr bwMode="auto">
          <a:xfrm>
            <a:off x="5553075" y="571500"/>
            <a:ext cx="1143000" cy="1171575"/>
          </a:xfrm>
          <a:prstGeom prst="ellipse">
            <a:avLst/>
          </a:prstGeom>
          <a:solidFill>
            <a:srgbClr val="EF5D0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3pPr>
            <a:lvl4pPr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4pPr>
            <a:lvl5pPr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9pPr>
          </a:lstStyle>
          <a:p>
            <a:pPr algn="ctr" eaLnBrk="0" hangingPunct="0"/>
            <a:r>
              <a:rPr lang="zh-CN" altLang="zh-TW" sz="2000">
                <a:solidFill>
                  <a:schemeClr val="bg1"/>
                </a:solidFill>
              </a:rPr>
              <a:t>系统功能</a:t>
            </a:r>
          </a:p>
        </p:txBody>
      </p:sp>
      <p:sp>
        <p:nvSpPr>
          <p:cNvPr id="16388" name="文本框 7"/>
          <p:cNvSpPr txBox="1">
            <a:spLocks noChangeArrowheads="1"/>
          </p:cNvSpPr>
          <p:nvPr/>
        </p:nvSpPr>
        <p:spPr bwMode="auto">
          <a:xfrm>
            <a:off x="5721444" y="2230120"/>
            <a:ext cx="5843588" cy="1895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3pPr>
            <a:lvl4pPr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4pPr>
            <a:lvl5pPr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9pPr>
          </a:lstStyle>
          <a:p>
            <a:pPr marL="0" lvl="1">
              <a:lnSpc>
                <a:spcPct val="150000"/>
              </a:lnSpc>
            </a:pPr>
            <a:r>
              <a:rPr lang="zh-CN" altLang="en-US" sz="1600" dirty="0">
                <a:solidFill>
                  <a:srgbClr val="003466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二、</a:t>
            </a:r>
            <a:r>
              <a:rPr lang="en-US" altLang="zh-CN" sz="1600" dirty="0">
                <a:solidFill>
                  <a:srgbClr val="003466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PDA</a:t>
            </a:r>
            <a:r>
              <a:rPr lang="zh-CN" altLang="en-US" sz="1600" dirty="0">
                <a:solidFill>
                  <a:srgbClr val="003466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端功能</a:t>
            </a:r>
            <a:endParaRPr lang="en-US" altLang="zh-CN" sz="1600" dirty="0">
              <a:solidFill>
                <a:srgbClr val="003466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r>
              <a:rPr lang="en-US" altLang="zh-CN" sz="1600" dirty="0">
                <a:solidFill>
                  <a:srgbClr val="003466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1</a:t>
            </a:r>
            <a:r>
              <a:rPr lang="zh-CN" altLang="en-US" sz="1600" dirty="0">
                <a:solidFill>
                  <a:srgbClr val="003466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、入库管理</a:t>
            </a:r>
            <a:endParaRPr lang="en-US" altLang="zh-CN" sz="1600" dirty="0">
              <a:solidFill>
                <a:srgbClr val="003466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r>
              <a:rPr lang="en-US" altLang="zh-CN" sz="1600" dirty="0">
                <a:solidFill>
                  <a:srgbClr val="003466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2</a:t>
            </a:r>
            <a:r>
              <a:rPr lang="zh-CN" altLang="en-US" sz="1600" dirty="0">
                <a:solidFill>
                  <a:srgbClr val="003466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、出库管理</a:t>
            </a:r>
            <a:endParaRPr lang="en-US" altLang="zh-CN" sz="1600" dirty="0">
              <a:solidFill>
                <a:srgbClr val="003466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r>
              <a:rPr lang="en-US" altLang="zh-CN" sz="1600" dirty="0">
                <a:solidFill>
                  <a:srgbClr val="003466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3</a:t>
            </a:r>
            <a:r>
              <a:rPr lang="zh-CN" altLang="en-US" sz="1600" dirty="0">
                <a:solidFill>
                  <a:srgbClr val="003466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、载具管理</a:t>
            </a:r>
            <a:endParaRPr lang="en-US" altLang="zh-CN" sz="1600" dirty="0">
              <a:solidFill>
                <a:srgbClr val="003466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r>
              <a:rPr lang="en-US" altLang="zh-CN" sz="1600" dirty="0">
                <a:solidFill>
                  <a:srgbClr val="003466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4</a:t>
            </a:r>
            <a:r>
              <a:rPr lang="zh-CN" altLang="en-US" sz="1600" dirty="0">
                <a:solidFill>
                  <a:srgbClr val="003466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、库存查询</a:t>
            </a:r>
            <a:endParaRPr lang="en-US" altLang="zh-CN" sz="1600" dirty="0">
              <a:solidFill>
                <a:srgbClr val="003466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2" name="图片 155">
            <a:extLst>
              <a:ext uri="{FF2B5EF4-FFF2-40B4-BE49-F238E27FC236}">
                <a16:creationId xmlns:a16="http://schemas.microsoft.com/office/drawing/2014/main" id="{CA594560-9717-A2C0-1344-5E15E1077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368062" y="3509476"/>
            <a:ext cx="2372827" cy="3346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F157CEE-59E0-FAD5-9373-80B0814F07D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552" y="-3175"/>
            <a:ext cx="2417099" cy="357722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F9A4A7D-F5E7-7638-AD7A-E9D99DD5B77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65" y="0"/>
            <a:ext cx="2320317" cy="3511062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851B7E46-1DD3-3A29-4199-627D5ACEBA4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65" y="3511062"/>
            <a:ext cx="2372827" cy="334694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3AE4EDEA-6916-E397-4624-D3407C7F3E9B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179" y="1453451"/>
            <a:ext cx="2222492" cy="3951097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805.001574803149,&quot;width&quot;:7477.5007874015746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805.001574803149,&quot;width&quot;:7477.5007874015746}"/>
</p:tagLst>
</file>

<file path=ppt/theme/theme1.xml><?xml version="1.0" encoding="utf-8"?>
<a:theme xmlns:a="http://schemas.openxmlformats.org/drawingml/2006/main" name="Office 主题">
  <a:themeElements>
    <a:clrScheme name="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75F77"/>
      </a:accent1>
      <a:accent2>
        <a:srgbClr val="D74B4B"/>
      </a:accent2>
      <a:accent3>
        <a:srgbClr val="FFFFFF"/>
      </a:accent3>
      <a:accent4>
        <a:srgbClr val="000000"/>
      </a:accent4>
      <a:accent5>
        <a:srgbClr val="B1B6BD"/>
      </a:accent5>
      <a:accent6>
        <a:srgbClr val="C34343"/>
      </a:accent6>
      <a:hlink>
        <a:srgbClr val="D74B4B"/>
      </a:hlink>
      <a:folHlink>
        <a:srgbClr val="869FB7"/>
      </a:folHlink>
    </a:clrScheme>
    <a:fontScheme name="Office 主题">
      <a:majorFont>
        <a:latin typeface="Segoe UI Light"/>
        <a:ea typeface="微软雅黑 Light"/>
        <a:cs typeface=""/>
      </a:majorFont>
      <a:minorFont>
        <a:latin typeface="Segoe U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TW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Segoe UI" panose="020B0502040204020203" pitchFamily="34" charset="0"/>
            <a:ea typeface="微软雅黑" panose="020B0503020204020204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TW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Segoe UI" panose="020B0502040204020203" pitchFamily="34" charset="0"/>
            <a:ea typeface="微软雅黑" panose="020B0503020204020204" pitchFamily="34" charset="-122"/>
          </a:defRPr>
        </a:defPPr>
      </a:lstStyle>
    </a:lnDef>
  </a:objectDefaults>
  <a:extraClrSchemeLst>
    <a:extraClrScheme>
      <a:clrScheme name="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75F77"/>
        </a:accent1>
        <a:accent2>
          <a:srgbClr val="D74B4B"/>
        </a:accent2>
        <a:accent3>
          <a:srgbClr val="FFFFFF"/>
        </a:accent3>
        <a:accent4>
          <a:srgbClr val="000000"/>
        </a:accent4>
        <a:accent5>
          <a:srgbClr val="B1B6BD"/>
        </a:accent5>
        <a:accent6>
          <a:srgbClr val="C34343"/>
        </a:accent6>
        <a:hlink>
          <a:srgbClr val="D74B4B"/>
        </a:hlink>
        <a:folHlink>
          <a:srgbClr val="869FB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">
  <a:themeElements>
    <a:clrScheme name="2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75F77"/>
      </a:accent1>
      <a:accent2>
        <a:srgbClr val="D74B4B"/>
      </a:accent2>
      <a:accent3>
        <a:srgbClr val="FFFFFF"/>
      </a:accent3>
      <a:accent4>
        <a:srgbClr val="000000"/>
      </a:accent4>
      <a:accent5>
        <a:srgbClr val="B1B6BD"/>
      </a:accent5>
      <a:accent6>
        <a:srgbClr val="C34343"/>
      </a:accent6>
      <a:hlink>
        <a:srgbClr val="D74B4B"/>
      </a:hlink>
      <a:folHlink>
        <a:srgbClr val="869FB7"/>
      </a:folHlink>
    </a:clrScheme>
    <a:fontScheme name="2_Office 主题">
      <a:majorFont>
        <a:latin typeface="Segoe UI Light"/>
        <a:ea typeface="微软雅黑 Light"/>
        <a:cs typeface=""/>
      </a:majorFont>
      <a:minorFont>
        <a:latin typeface="Segoe U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TW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Segoe UI" panose="020B0502040204020203" pitchFamily="34" charset="0"/>
            <a:ea typeface="微软雅黑" panose="020B0503020204020204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TW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Segoe UI" panose="020B0502040204020203" pitchFamily="34" charset="0"/>
            <a:ea typeface="微软雅黑" panose="020B0503020204020204" pitchFamily="34" charset="-122"/>
          </a:defRPr>
        </a:defPPr>
      </a:lstStyle>
    </a:lnDef>
  </a:objectDefaults>
  <a:extraClrSchemeLst>
    <a:extraClrScheme>
      <a:clrScheme name="2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75F77"/>
        </a:accent1>
        <a:accent2>
          <a:srgbClr val="D74B4B"/>
        </a:accent2>
        <a:accent3>
          <a:srgbClr val="FFFFFF"/>
        </a:accent3>
        <a:accent4>
          <a:srgbClr val="000000"/>
        </a:accent4>
        <a:accent5>
          <a:srgbClr val="B1B6BD"/>
        </a:accent5>
        <a:accent6>
          <a:srgbClr val="C34343"/>
        </a:accent6>
        <a:hlink>
          <a:srgbClr val="D74B4B"/>
        </a:hlink>
        <a:folHlink>
          <a:srgbClr val="869FB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Office 主题">
  <a:themeElements>
    <a:clrScheme name="6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75F77"/>
      </a:accent1>
      <a:accent2>
        <a:srgbClr val="D74B4B"/>
      </a:accent2>
      <a:accent3>
        <a:srgbClr val="FFFFFF"/>
      </a:accent3>
      <a:accent4>
        <a:srgbClr val="000000"/>
      </a:accent4>
      <a:accent5>
        <a:srgbClr val="B1B6BD"/>
      </a:accent5>
      <a:accent6>
        <a:srgbClr val="C34343"/>
      </a:accent6>
      <a:hlink>
        <a:srgbClr val="D74B4B"/>
      </a:hlink>
      <a:folHlink>
        <a:srgbClr val="869FB7"/>
      </a:folHlink>
    </a:clrScheme>
    <a:fontScheme name="6_Office 主题">
      <a:majorFont>
        <a:latin typeface="Segoe UI Light"/>
        <a:ea typeface="微软雅黑 Light"/>
        <a:cs typeface=""/>
      </a:majorFont>
      <a:minorFont>
        <a:latin typeface="Segoe U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TW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Segoe UI" panose="020B0502040204020203" pitchFamily="34" charset="0"/>
            <a:ea typeface="微软雅黑" panose="020B0503020204020204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TW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Segoe UI" panose="020B0502040204020203" pitchFamily="34" charset="0"/>
            <a:ea typeface="微软雅黑" panose="020B0503020204020204" pitchFamily="34" charset="-122"/>
          </a:defRPr>
        </a:defPPr>
      </a:lstStyle>
    </a:lnDef>
  </a:objectDefaults>
  <a:extraClrSchemeLst>
    <a:extraClrScheme>
      <a:clrScheme name="6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75F77"/>
        </a:accent1>
        <a:accent2>
          <a:srgbClr val="D74B4B"/>
        </a:accent2>
        <a:accent3>
          <a:srgbClr val="FFFFFF"/>
        </a:accent3>
        <a:accent4>
          <a:srgbClr val="000000"/>
        </a:accent4>
        <a:accent5>
          <a:srgbClr val="B1B6BD"/>
        </a:accent5>
        <a:accent6>
          <a:srgbClr val="C34343"/>
        </a:accent6>
        <a:hlink>
          <a:srgbClr val="D74B4B"/>
        </a:hlink>
        <a:folHlink>
          <a:srgbClr val="869FB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2196</TotalTime>
  <Words>273</Words>
  <Application>Microsoft Office PowerPoint</Application>
  <PresentationFormat>宽屏</PresentationFormat>
  <Paragraphs>40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Calibri</vt:lpstr>
      <vt:lpstr>Segoe UI</vt:lpstr>
      <vt:lpstr>微软雅黑</vt:lpstr>
      <vt:lpstr>Arial</vt:lpstr>
      <vt:lpstr>Segoe UI Light</vt:lpstr>
      <vt:lpstr>Office 主题</vt:lpstr>
      <vt:lpstr>2_Office 主题</vt:lpstr>
      <vt:lpstr>6_Office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Ryan Lee</dc:creator>
  <cp:lastModifiedBy>雪茹 王</cp:lastModifiedBy>
  <cp:revision>429</cp:revision>
  <dcterms:created xsi:type="dcterms:W3CDTF">2014-05-23T07:15:00Z</dcterms:created>
  <dcterms:modified xsi:type="dcterms:W3CDTF">2024-02-21T09:57:52Z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2052-11.1.0.9584</vt:lpwstr>
  </property>
</Properties>
</file>